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CyberTwin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Jumeau Numerique pour la Simulation d'Attaques Cyber</a:t>
            </a:r>
            <a:br/>
            <a:r>
              <a:t>et l'Evaluation de la Posture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[Nom de l'Auteur]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57784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Problematique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Les SOC font face a des menaces croissantes (APT, ransomware, insider threats)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Comment tester la capacite de detection AVANT une vraie attaque ?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Comment evaluer la maturite d'un SOC de maniere objective ?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spcAft>
                <a:spcPts val="600"/>
              </a:spcAft>
              <a:defRPr sz="2200" b="1">
                <a:solidFill>
                  <a:srgbClr val="00D4FF"/>
                </a:solidFill>
              </a:defRPr>
            </a:pPr>
            <a:r>
              <a:t>→  Solution : Le Jumeau Numerique (Digital Twin) de cybersecurite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Objectifs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37744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Simuler un environnement IT realiste</a:t>
            </a:r>
            <a:br/>
            <a:r>
              <a:t>(jumeau numerique)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37744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5CF6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Reproduire des attaques APT documentees</a:t>
            </a:r>
            <a:br/>
            <a:r>
              <a:t>(APT29, APT28, TeamTNT)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237744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Evaluer la detection avec un scoring</a:t>
            </a:r>
            <a:br/>
            <a:r>
              <a:t>multi-dimensionnel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828800"/>
            <a:ext cx="2377440" cy="20116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011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A623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651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Generer des rapports d'analyse AI</a:t>
            </a:r>
            <a:br/>
            <a:r>
              <a:t>automatises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662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Environment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0390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3250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Normal</a:t>
            </a:r>
            <a:br/>
            <a:r>
              <a:t>Activity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2978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838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Attack</a:t>
            </a:r>
            <a:br/>
            <a:r>
              <a:t>Engine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5566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8426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Telemetry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154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014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Detection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0742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3602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Scoring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3330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190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AI Analyst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959187" y="256032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87787" y="2286000"/>
            <a:ext cx="1097280" cy="82296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292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Backend: Python / FastAPI   |   Frontend: React   |   API: 28 endpoints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Stack Technologique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Python 3.12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FastAPI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SQLite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PyJWT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Pydantic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774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React 18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Vite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Tailwind CSS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•  Recharts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A623"/>
                </a:solidFill>
              </a:defRPr>
            </a:pPr>
            <a:r>
              <a:t>MITRE ATT&amp;CK   |   Windows Event IDs   |   Sysmon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Le Jumeau Numerique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▶  7 hosts simules dans l'environnement virtuel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▶  3 segments reseau : User LAN, Server Zone, DMZ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▶  5 utilisateurs avec profils realistes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D4FF"/>
                </a:solidFill>
              </a:defRPr>
            </a:pPr>
            <a:r>
              <a:t>Activite normale simulee :</a:t>
            </a:r>
          </a:p>
          <a:p>
            <a:pPr>
              <a:spcBef>
                <a:spcPts val="800"/>
              </a:spcBef>
              <a:defRPr sz="2000">
                <a:solidFill>
                  <a:srgbClr val="CCCCCC"/>
                </a:solidFill>
              </a:defRPr>
            </a:pPr>
            <a:r>
              <a:t>    •  Login / Logout</a:t>
            </a:r>
          </a:p>
          <a:p>
            <a:pPr>
              <a:spcBef>
                <a:spcPts val="800"/>
              </a:spcBef>
              <a:defRPr sz="2000">
                <a:solidFill>
                  <a:srgbClr val="CCCCCC"/>
                </a:solidFill>
              </a:defRPr>
            </a:pPr>
            <a:r>
              <a:t>    •  Email (envoi, reception)</a:t>
            </a:r>
          </a:p>
          <a:p>
            <a:pPr>
              <a:spcBef>
                <a:spcPts val="800"/>
              </a:spcBef>
              <a:defRPr sz="2000">
                <a:solidFill>
                  <a:srgbClr val="CCCCCC"/>
                </a:solidFill>
              </a:defRPr>
            </a:pPr>
            <a:r>
              <a:t>    •  Navigation Web &amp; DNS</a:t>
            </a:r>
          </a:p>
          <a:p>
            <a:pPr>
              <a:spcBef>
                <a:spcPts val="800"/>
              </a:spcBef>
              <a:defRPr sz="2000">
                <a:solidFill>
                  <a:srgbClr val="CCCCCC"/>
                </a:solidFill>
              </a:defRPr>
            </a:pPr>
            <a:r>
              <a:t>    •  Operations fichiers</a:t>
            </a:r>
          </a:p>
          <a:p>
            <a:pPr>
              <a:spcBef>
                <a:spcPts val="800"/>
              </a:spcBef>
              <a:defRPr sz="2000">
                <a:solidFill>
                  <a:srgbClr val="CCCCCC"/>
                </a:solidFill>
              </a:defRPr>
            </a:pPr>
            <a:r>
              <a:t>    •  Requetes base de donnees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4 Scenarios Bases sur des Menaces Reelles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2011680"/>
          <a:ext cx="9509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Threat Actor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Severite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Techniques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Spear Phishing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APT29 Cozy Bear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6 phases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Brute Force SSH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TeamTNT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6 phases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Lateral Movement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APT28 Fancy Bear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6 phases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Data Exfiltration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Insider Threat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6 phases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Moteur de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34 regles de detection implementees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Fenetres glissantes temporelles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Correlation d'incidents automatique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Windows Event IDs :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  4624, 4625, 4688, 4720, 5156 ...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Sysmon Event IDs :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  1, 3, 11, 22, 23 ...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Scoring Multi-Dimensionnel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7315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Detection (35%)  -  Phases d'attaque detectees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5029200" cy="7315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Couverture (30%)  -  Techniques MITRE couvertes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5029200" cy="7315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Visibilite (20%)  -  Sources de logs actives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5029200" cy="7315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Reponse (15%)  -  Temps moyen de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5 niveaux de maturite 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303520"/>
            <a:ext cx="164592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Initial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5303520"/>
            <a:ext cx="164592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A623"/>
                </a:solidFill>
              </a:defRPr>
            </a:pPr>
            <a:r>
              <a:t>Repetable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303520"/>
            <a:ext cx="164592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Defini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5303520"/>
            <a:ext cx="164592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Gere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5303520"/>
            <a:ext cx="1645920" cy="6400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Resultats de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058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Couverture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Visibilite</a:t>
                      </a:r>
                    </a:p>
                  </a:txBody>
                  <a:tcPr anchor="ctr">
                    <a:solidFill>
                      <a:srgbClr val="0A3D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APT29 Phishing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89.2 / 100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TeamTNT Brute Force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89.2 / 100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APT28 Lateral Mvt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87.5 / 100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1616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Insider Exfil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78.3 / 100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Analyste AI Integre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NLG Rule-Based (pas d'API externe requise)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Narrative executive automatique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Extraction d'IOCs (IPs, domains, hashes)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Impact compliance (GDPR, ISO 27001, NIST CSF)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▶  Recommandations strategiques prioritisees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Interface Utilisateur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Dashboard avec KPIs animes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MITRE ATT&amp;CK Heatmap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Threat Intelligence Feed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Timeline interactive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Export PDF professionnel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Simulation Live (WebSocket)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Scenarios Manager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Detection Rules Viewer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Incidents &amp; Alerts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AI Analysis Reports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Environment Overview</a:t>
            </a:r>
          </a:p>
          <a:p>
            <a:pPr>
              <a:spcBef>
                <a:spcPts val="1000"/>
              </a:spcBef>
              <a:defRPr sz="1900">
                <a:solidFill>
                  <a:srgbClr val="FFFFFF"/>
                </a:solidFill>
              </a:defRPr>
            </a:pPr>
            <a:r>
              <a:t>•  Settings &amp;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Qualite &amp;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✅  100 tests unitaires - 100% pass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✅  8 fichiers de test couvrant tous les modules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✅  pytest + pytest-cov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✅  Docker Compose pour le deploiement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Le Projet en Chiffres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3787" y="164592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3787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D4FF"/>
                </a:solidFill>
              </a:defRPr>
            </a:pPr>
            <a:r>
              <a:t>11,315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787" y="2560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lignes 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49827" y="164592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9827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8B5CF6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27" y="2560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modules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64592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0B981"/>
                </a:solidFill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2560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pages 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1907" y="164592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1907" y="1828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EF4444"/>
                </a:solidFill>
              </a:defRPr>
            </a:pPr>
            <a: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1907" y="2560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regles de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46807" y="356616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6807" y="3749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A623"/>
                </a:solidFill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807" y="44805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tests unitaires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2847" y="356616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2847" y="3749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D4FF"/>
                </a:solidFill>
              </a:defRPr>
            </a:pPr>
            <a: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847" y="44805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endpoints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8887" y="3566160"/>
            <a:ext cx="2286000" cy="164592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8887" y="3749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8887" y="44805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CCCCC"/>
                </a:solidFill>
              </a:defRPr>
            </a:pPr>
            <a:r>
              <a:t>scenarios reels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Demo live de la plateforme CyberTwin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5CF6"/>
                </a:solidFill>
              </a:defRPr>
            </a:pPr>
            <a:r>
              <a:t>http://localhost:3001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Apports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✓  Approche Digital Twin innovante</a:t>
            </a:r>
            <a:br/>
            <a:r>
              <a:t>pour la cybersecurite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✓  Simulation realiste basee sur des</a:t>
            </a:r>
            <a:br/>
            <a:r>
              <a:t>menaces documentees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✓  Scoring objectif et</a:t>
            </a:r>
            <a:br/>
            <a:r>
              <a:t>multi-dimensionnel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→  Integration de feeds Threat</a:t>
            </a:r>
            <a:br/>
            <a:r>
              <a:t>Intelligence en temps reel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→  Support de scenarios</a:t>
            </a:r>
            <a:br/>
            <a:r>
              <a:t>personnalises avances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→  Deploiement cloud</a:t>
            </a:r>
            <a:br/>
            <a:r>
              <a:t>(AWS / Azure)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→  Integration avec de vrais SIEM</a:t>
            </a:r>
            <a:br/>
            <a:r>
              <a:t>(Splunk, Sentinel)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CCCCC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